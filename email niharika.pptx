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1" r:id="rId3"/>
    <p:sldId id="302" r:id="rId4"/>
    <p:sldId id="303" r:id="rId5"/>
    <p:sldId id="258" r:id="rId6"/>
    <p:sldId id="304" r:id="rId7"/>
    <p:sldId id="259" r:id="rId8"/>
    <p:sldId id="260" r:id="rId9"/>
    <p:sldId id="309" r:id="rId10"/>
    <p:sldId id="310" r:id="rId11"/>
    <p:sldId id="311" r:id="rId12"/>
    <p:sldId id="314" r:id="rId13"/>
    <p:sldId id="321" r:id="rId14"/>
    <p:sldId id="315" r:id="rId15"/>
    <p:sldId id="316" r:id="rId16"/>
    <p:sldId id="317" r:id="rId17"/>
    <p:sldId id="318" r:id="rId18"/>
    <p:sldId id="319" r:id="rId19"/>
    <p:sldId id="32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6D2AE-8C3D-5D61-BACB-65482E5D6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0FBB7-8827-0D80-F0B4-904168967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19F8D-0CD4-D59A-75D2-75F5598F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DF892-3726-698A-731D-BD77717F9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F478E-1E9C-6AE6-2E39-F971CED7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909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2821-E62B-D0B2-2E0C-72993656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57578-95C1-41F1-D2F7-8B63FC713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E9C86-3FBC-4FC4-67B4-8B5DAD79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2C7C9-4C3E-BA13-3960-FB5E3D45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ACF6A-D28B-3AE8-A758-1B6953E5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7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88E7-BF94-3C54-3885-FBDE1C1D7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37791-FF34-9586-B259-43C3C9523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18129-9120-2E22-C72A-97420258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2EE85-9A9A-031C-BC84-F1795594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4CCFD-C039-73C0-667F-AB04C0873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1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A56E-97C3-C6AC-3DA9-5550DB43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E465C-8737-E527-86B7-538B09ED9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5A80E-52A4-026D-3A89-F3EF13DBA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4A029-80CA-813E-D965-671C4E50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9346C-2E94-5B3F-9DF9-0A00DC6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0941A-4C8F-B467-2431-97AA0B7D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409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8B97-87E6-2FB2-BB8B-4B7A780D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2AF5A-6F7A-2173-EA7D-CEB91F7A1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8A82F-56C0-7502-2B02-F7563C947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581A3-2C63-E08F-C193-FC6094337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52EB4-A66E-E40A-F85A-D945B11DF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9EDEF-7AB4-28FA-8347-B7B04273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928E2-2CBD-736B-FA01-E48E538E4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76BF0-BCB2-5AFD-122F-DCAA39CD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4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6F43F-C09B-F6A0-6E50-1CAA5ECF8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9A78E-F46A-FDFA-D199-E760CCBA2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AEF7A-CD55-5C47-F5B7-CE50D3B7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05010-F007-F3B5-65DD-FD2C9213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08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FC0F8-90F1-0419-0318-3EFCFF95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98A81-F1D1-4415-4FC8-D110F42A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2306D-C850-D75C-31EE-F34CBD0F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2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D58B-54BD-7492-15D8-34120A8FC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81B15-0862-1BBF-7416-C226EBB02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411BF-A0AA-812B-E70E-41A8E731F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F2826-E885-E821-BD4C-CD164316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F1E00-D84C-F37E-1233-A424F3DB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6DF1F-42C7-A6B0-646D-C8CDC4E68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83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3574-CF8F-6932-9DFF-AC1643DE0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9E695-EA30-13F0-B84D-A402E89D3D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18334-E41B-C108-9CF9-DD5CA4E80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F8E61-2DB8-9E47-028C-678052E7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97871-933C-01DC-34EE-1DAE47D3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C3D9A-7D06-3B97-DE26-550D0456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69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036F-E03F-BD36-455C-ED4D3A94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7914C-319B-3D0E-3689-17696FEDC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CE449-428D-B7C7-CF1D-C8575707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4EE6C-B7A0-0B45-67DE-3023D50E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07114-6F92-D1D6-8E00-0DB19A68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0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64829C-2B14-25E6-E99C-191858A6E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729DF-6251-5296-FD52-8ECC6199F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990DF-8F55-9314-CFB7-8CF2F258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9B2B0-1893-652B-7741-685AAE1BC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4C65E-2682-9F30-0BD4-7E8F9396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70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F29966-3A82-C87B-B40D-1F786FEE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2C5F6-06BE-9B8C-9D5E-A63E4B0A3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00F1D-621B-4591-94E7-4E68A60EE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FADE3-B5F4-4FBF-BC76-B7C86EDE161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AA6B3-6D9E-6EBC-D47B-23149209C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4B77D-9775-A355-C37D-2EFE25220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F8FCB-25E2-4DB4-AB77-4A9876B843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D7E4C02-47AB-5537-94FC-7EBDE451F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792937-CD17-5D0A-72ED-A25449B77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8" b="19222"/>
          <a:stretch>
            <a:fillRect/>
          </a:stretch>
        </p:blipFill>
        <p:spPr>
          <a:xfrm>
            <a:off x="1936590" y="235975"/>
            <a:ext cx="3645337" cy="1307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A6A6A7-9F21-3F49-9C16-8251614AAA3B}"/>
              </a:ext>
            </a:extLst>
          </p:cNvPr>
          <p:cNvSpPr txBox="1"/>
          <p:nvPr/>
        </p:nvSpPr>
        <p:spPr>
          <a:xfrm>
            <a:off x="383458" y="1661652"/>
            <a:ext cx="559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Digital Marketing Assignment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C7F41D-FEB2-5119-BB97-E4B4A4428CD4}"/>
              </a:ext>
            </a:extLst>
          </p:cNvPr>
          <p:cNvSpPr txBox="1"/>
          <p:nvPr/>
        </p:nvSpPr>
        <p:spPr>
          <a:xfrm>
            <a:off x="1110415" y="2530006"/>
            <a:ext cx="5055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Bodoni MT" panose="02070603080606020203" pitchFamily="18" charset="0"/>
              </a:rPr>
              <a:t>Black Velvet Chocolate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6163A-DEFE-316B-53D4-BBE96B0A85EC}"/>
              </a:ext>
            </a:extLst>
          </p:cNvPr>
          <p:cNvSpPr txBox="1"/>
          <p:nvPr/>
        </p:nvSpPr>
        <p:spPr>
          <a:xfrm>
            <a:off x="1249756" y="3144493"/>
            <a:ext cx="3735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E-Mail Marketing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9478A1-D8DE-ACE4-2E30-B72787A66A5D}"/>
              </a:ext>
            </a:extLst>
          </p:cNvPr>
          <p:cNvCxnSpPr>
            <a:cxnSpLocks/>
          </p:cNvCxnSpPr>
          <p:nvPr/>
        </p:nvCxnSpPr>
        <p:spPr>
          <a:xfrm>
            <a:off x="540776" y="2447886"/>
            <a:ext cx="2605547" cy="0"/>
          </a:xfrm>
          <a:prstGeom prst="line">
            <a:avLst/>
          </a:prstGeom>
          <a:ln>
            <a:solidFill>
              <a:srgbClr val="7025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D809E3-ECAD-C7A9-61F9-17FB84D69A9A}"/>
              </a:ext>
            </a:extLst>
          </p:cNvPr>
          <p:cNvCxnSpPr>
            <a:cxnSpLocks/>
          </p:cNvCxnSpPr>
          <p:nvPr/>
        </p:nvCxnSpPr>
        <p:spPr>
          <a:xfrm>
            <a:off x="3328228" y="2452802"/>
            <a:ext cx="2605547" cy="0"/>
          </a:xfrm>
          <a:prstGeom prst="line">
            <a:avLst/>
          </a:prstGeom>
          <a:ln>
            <a:solidFill>
              <a:srgbClr val="7025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CCC505-7C8B-34DD-E702-AD3A424E1C67}"/>
              </a:ext>
            </a:extLst>
          </p:cNvPr>
          <p:cNvSpPr txBox="1"/>
          <p:nvPr/>
        </p:nvSpPr>
        <p:spPr>
          <a:xfrm>
            <a:off x="7182086" y="5024302"/>
            <a:ext cx="4060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Bodoni MT" panose="02070603080606020203" pitchFamily="18" charset="0"/>
              </a:rPr>
              <a:t>Niharika Singh</a:t>
            </a:r>
          </a:p>
          <a:p>
            <a:pPr algn="ctr"/>
            <a:r>
              <a:rPr lang="en-IN" sz="2400" b="1" dirty="0">
                <a:latin typeface="Bodoni MT" panose="02070603080606020203" pitchFamily="18" charset="0"/>
              </a:rPr>
              <a:t>BCA</a:t>
            </a:r>
            <a:r>
              <a:rPr lang="en-IN" sz="2400" dirty="0">
                <a:latin typeface="Bodoni MT" panose="02070603080606020203" pitchFamily="18" charset="0"/>
              </a:rPr>
              <a:t> – 3</a:t>
            </a:r>
            <a:r>
              <a:rPr lang="en-IN" sz="2400" baseline="30000" dirty="0">
                <a:latin typeface="Bodoni MT" panose="02070603080606020203" pitchFamily="18" charset="0"/>
              </a:rPr>
              <a:t>rd</a:t>
            </a:r>
            <a:r>
              <a:rPr lang="en-IN" sz="2400" dirty="0">
                <a:latin typeface="Bodoni MT" panose="02070603080606020203" pitchFamily="18" charset="0"/>
              </a:rPr>
              <a:t> Semester</a:t>
            </a:r>
          </a:p>
          <a:p>
            <a:pPr algn="ctr"/>
            <a:r>
              <a:rPr lang="en-IN" sz="2400" dirty="0">
                <a:latin typeface="Bodoni MT" panose="02070603080606020203" pitchFamily="18" charset="0"/>
              </a:rPr>
              <a:t>Session – 2026 - 2027</a:t>
            </a:r>
          </a:p>
        </p:txBody>
      </p:sp>
      <p:pic>
        <p:nvPicPr>
          <p:cNvPr id="20" name="Picture 19" descr="Mailchimp - free Icon PNG, SVG">
            <a:extLst>
              <a:ext uri="{FF2B5EF4-FFF2-40B4-BE49-F238E27FC236}">
                <a16:creationId xmlns:a16="http://schemas.microsoft.com/office/drawing/2014/main" id="{A5E408D1-D72C-F34D-51A9-28BBE9EEC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55" y="377349"/>
            <a:ext cx="936000" cy="93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6A8EDA-521D-CC75-3000-1AA9454260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945" y="4082101"/>
            <a:ext cx="2228494" cy="22284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A0AD1F-2189-7078-56E7-1F68A5B92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4477" y="377349"/>
            <a:ext cx="4468954" cy="44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29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B7A8797E-4CDE-4867-DBDA-1250F4B6D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670" y="935971"/>
            <a:ext cx="769112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Assignment Folio of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Submitted to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École College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Toward Digital Marketing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CA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3</a:t>
            </a:r>
            <a:r>
              <a:rPr lang="en-US" altLang="en-US" sz="16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rd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Semester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Niharika Singh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4B9F9CF-4224-A692-32B5-4C85DDC83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967" y="5383420"/>
            <a:ext cx="488852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École College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106/10, Civil Lines, Ajmer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/>
              </a:rPr>
              <a:t>www.dezyneecole.com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563C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>
                <a:ea typeface="Calibri" panose="020F0502020204030204" pitchFamily="34" charset="0"/>
              </a:rPr>
              <a:t>2026 - 202</a:t>
            </a:r>
            <a:r>
              <a:rPr lang="en-US" altLang="en-US" sz="1600" dirty="0">
                <a:ea typeface="Calibri" panose="020F0502020204030204" pitchFamily="34" charset="0"/>
              </a:rPr>
              <a:t>7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563C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969D57-9748-F831-0705-D95471CA9646}"/>
              </a:ext>
            </a:extLst>
          </p:cNvPr>
          <p:cNvCxnSpPr>
            <a:cxnSpLocks/>
          </p:cNvCxnSpPr>
          <p:nvPr/>
        </p:nvCxnSpPr>
        <p:spPr>
          <a:xfrm>
            <a:off x="294968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D36E1A-E02B-6D8F-42DA-1D8AABB53209}"/>
              </a:ext>
            </a:extLst>
          </p:cNvPr>
          <p:cNvSpPr txBox="1"/>
          <p:nvPr/>
        </p:nvSpPr>
        <p:spPr>
          <a:xfrm>
            <a:off x="9122800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40EFA-16E5-4749-56D8-B1A5F1C3CB4A}"/>
              </a:ext>
            </a:extLst>
          </p:cNvPr>
          <p:cNvSpPr txBox="1"/>
          <p:nvPr/>
        </p:nvSpPr>
        <p:spPr>
          <a:xfrm>
            <a:off x="187569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476C3-FD6B-BBBB-3FE7-C097D12DD2F5}"/>
              </a:ext>
            </a:extLst>
          </p:cNvPr>
          <p:cNvSpPr txBox="1"/>
          <p:nvPr/>
        </p:nvSpPr>
        <p:spPr>
          <a:xfrm>
            <a:off x="187568" y="674361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0D149-F628-044E-0039-63A785F1EABB}"/>
              </a:ext>
            </a:extLst>
          </p:cNvPr>
          <p:cNvSpPr txBox="1"/>
          <p:nvPr/>
        </p:nvSpPr>
        <p:spPr>
          <a:xfrm>
            <a:off x="5003560" y="4446067"/>
            <a:ext cx="1657339" cy="953063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DBF45E-BAD1-DF12-8E84-05DF188220BF}"/>
              </a:ext>
            </a:extLst>
          </p:cNvPr>
          <p:cNvCxnSpPr>
            <a:cxnSpLocks/>
          </p:cNvCxnSpPr>
          <p:nvPr/>
        </p:nvCxnSpPr>
        <p:spPr>
          <a:xfrm>
            <a:off x="388374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37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C969-1FA1-6C6F-DA45-214942197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10603F-D937-9804-2893-C1D6FF23D32D}"/>
              </a:ext>
            </a:extLst>
          </p:cNvPr>
          <p:cNvCxnSpPr>
            <a:cxnSpLocks/>
          </p:cNvCxnSpPr>
          <p:nvPr/>
        </p:nvCxnSpPr>
        <p:spPr>
          <a:xfrm>
            <a:off x="294968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4BFB55-292E-88B8-F8ED-0CED04903A23}"/>
              </a:ext>
            </a:extLst>
          </p:cNvPr>
          <p:cNvSpPr txBox="1"/>
          <p:nvPr/>
        </p:nvSpPr>
        <p:spPr>
          <a:xfrm>
            <a:off x="9122800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7160CD-D204-C3D3-8D65-8776D06278DE}"/>
              </a:ext>
            </a:extLst>
          </p:cNvPr>
          <p:cNvSpPr txBox="1"/>
          <p:nvPr/>
        </p:nvSpPr>
        <p:spPr>
          <a:xfrm>
            <a:off x="187569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C67C0-B4D3-377D-AF42-19891C968154}"/>
              </a:ext>
            </a:extLst>
          </p:cNvPr>
          <p:cNvSpPr txBox="1"/>
          <p:nvPr/>
        </p:nvSpPr>
        <p:spPr>
          <a:xfrm>
            <a:off x="187568" y="674361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190CCA-A834-E829-2F94-95D17E53C010}"/>
              </a:ext>
            </a:extLst>
          </p:cNvPr>
          <p:cNvCxnSpPr>
            <a:cxnSpLocks/>
          </p:cNvCxnSpPr>
          <p:nvPr/>
        </p:nvCxnSpPr>
        <p:spPr>
          <a:xfrm>
            <a:off x="388374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5522D49-BBCE-8898-450A-D7866E869194}"/>
              </a:ext>
            </a:extLst>
          </p:cNvPr>
          <p:cNvSpPr txBox="1"/>
          <p:nvPr/>
        </p:nvSpPr>
        <p:spPr>
          <a:xfrm>
            <a:off x="187568" y="1088098"/>
            <a:ext cx="1152265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dirty="0"/>
              <a:t>We take this opportunity to express our sincere gratitude to </a:t>
            </a:r>
            <a:r>
              <a:rPr lang="en-IN" sz="1600" dirty="0" err="1"/>
              <a:t>Dezyne</a:t>
            </a:r>
            <a:r>
              <a:rPr lang="en-IN" sz="1600" dirty="0"/>
              <a:t> École College for providing us with the knowledge, resources, and guidance essential to the successful completion of this project.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Our deepest thanks to our respected Principal, Dr. Vinita Mathur, for her visionary leadership and continuous encouragement. Her commitment to academic excellence and student growth has been a constant source of motivation and pride.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We are equally thankful to all our faculty members for their consistent support, expert advice, and valuable insights that shaped our learning and helped us achieve this milestone.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Lastly, we extend heartfelt thanks to everyone who directly or indirectly contributed to the success of this project.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We are proud to be part of </a:t>
            </a:r>
            <a:r>
              <a:rPr lang="en-IN" sz="1600" dirty="0" err="1"/>
              <a:t>Dezyne</a:t>
            </a:r>
            <a:r>
              <a:rPr lang="en-IN" sz="1600" dirty="0"/>
              <a:t> École College, an institution that truly nurtures professionalism, innovation, and purpose.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With sincere appreciation,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Niharika Singh,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/>
              <a:t>Department – BCA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dirty="0" err="1"/>
              <a:t>Dezyne</a:t>
            </a:r>
            <a:r>
              <a:rPr lang="en-IN" sz="1600" dirty="0"/>
              <a:t> École College, Ajmer</a:t>
            </a:r>
          </a:p>
          <a:p>
            <a:pPr algn="just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8550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6BBC-BFEB-C87E-BB21-CE53BF2F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D061FB-DE51-6370-BA8B-8FC242203AE4}"/>
              </a:ext>
            </a:extLst>
          </p:cNvPr>
          <p:cNvCxnSpPr>
            <a:cxnSpLocks/>
          </p:cNvCxnSpPr>
          <p:nvPr/>
        </p:nvCxnSpPr>
        <p:spPr>
          <a:xfrm>
            <a:off x="294968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BC501A-E9C7-4590-95A6-10A7B1127404}"/>
              </a:ext>
            </a:extLst>
          </p:cNvPr>
          <p:cNvSpPr txBox="1"/>
          <p:nvPr/>
        </p:nvSpPr>
        <p:spPr>
          <a:xfrm>
            <a:off x="9122800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Case Study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1D964-6BDB-9ED3-8D8D-D7DD93BAB971}"/>
              </a:ext>
            </a:extLst>
          </p:cNvPr>
          <p:cNvSpPr txBox="1"/>
          <p:nvPr/>
        </p:nvSpPr>
        <p:spPr>
          <a:xfrm>
            <a:off x="187569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2DCFE-3839-50CB-7283-DEA7691D2000}"/>
              </a:ext>
            </a:extLst>
          </p:cNvPr>
          <p:cNvSpPr txBox="1"/>
          <p:nvPr/>
        </p:nvSpPr>
        <p:spPr>
          <a:xfrm>
            <a:off x="187568" y="674361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CBA1B5-FE36-77B1-935C-91279471FC01}"/>
              </a:ext>
            </a:extLst>
          </p:cNvPr>
          <p:cNvCxnSpPr>
            <a:cxnSpLocks/>
          </p:cNvCxnSpPr>
          <p:nvPr/>
        </p:nvCxnSpPr>
        <p:spPr>
          <a:xfrm>
            <a:off x="388374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9510F4-96E9-29A4-4F42-7017716DF577}"/>
              </a:ext>
            </a:extLst>
          </p:cNvPr>
          <p:cNvSpPr txBox="1"/>
          <p:nvPr/>
        </p:nvSpPr>
        <p:spPr>
          <a:xfrm>
            <a:off x="187568" y="1166842"/>
            <a:ext cx="1152265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Objective: </a:t>
            </a:r>
          </a:p>
          <a:p>
            <a:pPr algn="just"/>
            <a:r>
              <a:rPr lang="en-US" sz="1600" dirty="0"/>
              <a:t>Build Subscriber Base, Increase Engagement, Promote Products, Improve Conversions &amp; Maximize ROI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1. Subscriber List Creation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Created audience list in Mailchimp. Segmented subscribers based on interests and demographics.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2. Email Campaign Setup </a:t>
            </a:r>
          </a:p>
          <a:p>
            <a:pPr algn="just"/>
            <a:r>
              <a:rPr lang="en-US" sz="1600" dirty="0"/>
              <a:t>Selected regular email campaign and defined campaign name, audience, and subject line with strong CTA.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3. Email Designing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Designed responsive email using drag-and-drop builder. Added logo, banner image, product details, and clear Call-to-Action buttons.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4. Test Email &amp; Optimization </a:t>
            </a:r>
          </a:p>
          <a:p>
            <a:pPr algn="just"/>
            <a:r>
              <a:rPr lang="en-US" sz="1600" dirty="0"/>
              <a:t>Sent test emails to check layout, links, subject line, and mobile responsiveness.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5. Final Publication &amp; Performance Tracking</a:t>
            </a:r>
          </a:p>
          <a:p>
            <a:pPr algn="just"/>
            <a:r>
              <a:rPr lang="en-US" sz="1600" dirty="0"/>
              <a:t> Scheduled and sent final campaign. Monitored open rate, click-through rate (CTR), and conversions.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6613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4CD7-2507-DA17-C94E-75CE2C37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ADF1E5EF-91D7-69D4-3724-B25299DF2788}"/>
              </a:ext>
            </a:extLst>
          </p:cNvPr>
          <p:cNvGrpSpPr/>
          <p:nvPr/>
        </p:nvGrpSpPr>
        <p:grpSpPr>
          <a:xfrm>
            <a:off x="8837667" y="5188010"/>
            <a:ext cx="1612491" cy="1572643"/>
            <a:chOff x="1081548" y="570270"/>
            <a:chExt cx="1862106" cy="2283562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940BBD6-0B95-0139-6C3D-4A546DCB4FB5}"/>
                </a:ext>
              </a:extLst>
            </p:cNvPr>
            <p:cNvSpPr/>
            <p:nvPr/>
          </p:nvSpPr>
          <p:spPr>
            <a:xfrm>
              <a:off x="1081548" y="570270"/>
              <a:ext cx="1862106" cy="2283562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5" name="Arrow: Pentagon 74">
              <a:extLst>
                <a:ext uri="{FF2B5EF4-FFF2-40B4-BE49-F238E27FC236}">
                  <a16:creationId xmlns:a16="http://schemas.microsoft.com/office/drawing/2014/main" id="{B1891AED-5B95-188F-DFC7-66B65F22D509}"/>
                </a:ext>
              </a:extLst>
            </p:cNvPr>
            <p:cNvSpPr/>
            <p:nvPr/>
          </p:nvSpPr>
          <p:spPr>
            <a:xfrm rot="5400000">
              <a:off x="1362519" y="289300"/>
              <a:ext cx="1300163" cy="1862105"/>
            </a:xfrm>
            <a:prstGeom prst="homePlate">
              <a:avLst/>
            </a:prstGeom>
            <a:solidFill>
              <a:srgbClr val="FFF8DD"/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04D5667-2946-8966-EEA2-59C3F82218A3}"/>
              </a:ext>
            </a:extLst>
          </p:cNvPr>
          <p:cNvGrpSpPr/>
          <p:nvPr/>
        </p:nvGrpSpPr>
        <p:grpSpPr>
          <a:xfrm>
            <a:off x="8823112" y="3099005"/>
            <a:ext cx="1612491" cy="1435511"/>
            <a:chOff x="1081548" y="570270"/>
            <a:chExt cx="1862106" cy="2084439"/>
          </a:xfrm>
          <a:solidFill>
            <a:srgbClr val="FFF8DD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051763E-B362-8CB6-C9F9-A0C7C44375DF}"/>
                </a:ext>
              </a:extLst>
            </p:cNvPr>
            <p:cNvSpPr/>
            <p:nvPr/>
          </p:nvSpPr>
          <p:spPr>
            <a:xfrm>
              <a:off x="1081548" y="570270"/>
              <a:ext cx="1862106" cy="208443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6" name="Arrow: Pentagon 85">
              <a:extLst>
                <a:ext uri="{FF2B5EF4-FFF2-40B4-BE49-F238E27FC236}">
                  <a16:creationId xmlns:a16="http://schemas.microsoft.com/office/drawing/2014/main" id="{0D9210EB-485B-9FC8-05D4-D36C0AFAC9AF}"/>
                </a:ext>
              </a:extLst>
            </p:cNvPr>
            <p:cNvSpPr/>
            <p:nvPr/>
          </p:nvSpPr>
          <p:spPr>
            <a:xfrm rot="5400000">
              <a:off x="1362519" y="289300"/>
              <a:ext cx="1300163" cy="1862105"/>
            </a:xfrm>
            <a:prstGeom prst="homePlate">
              <a:avLst/>
            </a:prstGeom>
            <a:grpFill/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A179A03-4F02-084D-EAE8-AA874E3F5CEB}"/>
              </a:ext>
            </a:extLst>
          </p:cNvPr>
          <p:cNvGrpSpPr/>
          <p:nvPr/>
        </p:nvGrpSpPr>
        <p:grpSpPr>
          <a:xfrm>
            <a:off x="8824474" y="1034294"/>
            <a:ext cx="1612491" cy="1435511"/>
            <a:chOff x="1081548" y="570270"/>
            <a:chExt cx="1862106" cy="2084439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AD513D1-FC20-8ED9-2DAB-737D0BB4DDF3}"/>
                </a:ext>
              </a:extLst>
            </p:cNvPr>
            <p:cNvSpPr/>
            <p:nvPr/>
          </p:nvSpPr>
          <p:spPr>
            <a:xfrm>
              <a:off x="1081548" y="570270"/>
              <a:ext cx="1862106" cy="208443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Arrow: Pentagon 88">
              <a:extLst>
                <a:ext uri="{FF2B5EF4-FFF2-40B4-BE49-F238E27FC236}">
                  <a16:creationId xmlns:a16="http://schemas.microsoft.com/office/drawing/2014/main" id="{63018440-3D94-F534-1869-256CFE619892}"/>
                </a:ext>
              </a:extLst>
            </p:cNvPr>
            <p:cNvSpPr/>
            <p:nvPr/>
          </p:nvSpPr>
          <p:spPr>
            <a:xfrm rot="5400000">
              <a:off x="1362519" y="289300"/>
              <a:ext cx="1300163" cy="1862105"/>
            </a:xfrm>
            <a:prstGeom prst="homePlate">
              <a:avLst/>
            </a:prstGeom>
            <a:solidFill>
              <a:srgbClr val="FFF8DD"/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A666DCC-1C69-4B68-F68F-C634C9B47CEB}"/>
              </a:ext>
            </a:extLst>
          </p:cNvPr>
          <p:cNvGrpSpPr/>
          <p:nvPr/>
        </p:nvGrpSpPr>
        <p:grpSpPr>
          <a:xfrm>
            <a:off x="1740864" y="5105949"/>
            <a:ext cx="1612491" cy="1435511"/>
            <a:chOff x="1081548" y="570270"/>
            <a:chExt cx="1862106" cy="2084439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EF3D1A0-8005-2014-CF49-DAAB5BF269BE}"/>
                </a:ext>
              </a:extLst>
            </p:cNvPr>
            <p:cNvSpPr/>
            <p:nvPr/>
          </p:nvSpPr>
          <p:spPr>
            <a:xfrm>
              <a:off x="1081548" y="570270"/>
              <a:ext cx="1862106" cy="208443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2" name="Arrow: Pentagon 91">
              <a:extLst>
                <a:ext uri="{FF2B5EF4-FFF2-40B4-BE49-F238E27FC236}">
                  <a16:creationId xmlns:a16="http://schemas.microsoft.com/office/drawing/2014/main" id="{3F5DE775-9EF3-23C9-F0C4-4D7C33BCA60B}"/>
                </a:ext>
              </a:extLst>
            </p:cNvPr>
            <p:cNvSpPr/>
            <p:nvPr/>
          </p:nvSpPr>
          <p:spPr>
            <a:xfrm rot="5400000">
              <a:off x="1362519" y="289300"/>
              <a:ext cx="1300163" cy="1862105"/>
            </a:xfrm>
            <a:prstGeom prst="homePlate">
              <a:avLst/>
            </a:prstGeom>
            <a:solidFill>
              <a:srgbClr val="FFF8DD"/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D447099-BB5E-AAFE-3948-AB7FD7ECD8EF}"/>
              </a:ext>
            </a:extLst>
          </p:cNvPr>
          <p:cNvGrpSpPr/>
          <p:nvPr/>
        </p:nvGrpSpPr>
        <p:grpSpPr>
          <a:xfrm>
            <a:off x="1740865" y="3091453"/>
            <a:ext cx="1612491" cy="1435511"/>
            <a:chOff x="1081548" y="570270"/>
            <a:chExt cx="1862106" cy="2084439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A177AE6-A420-A18A-3E2E-A85ACCC6353E}"/>
                </a:ext>
              </a:extLst>
            </p:cNvPr>
            <p:cNvSpPr/>
            <p:nvPr/>
          </p:nvSpPr>
          <p:spPr>
            <a:xfrm>
              <a:off x="1081548" y="570270"/>
              <a:ext cx="1862106" cy="208443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Arrow: Pentagon 94">
              <a:extLst>
                <a:ext uri="{FF2B5EF4-FFF2-40B4-BE49-F238E27FC236}">
                  <a16:creationId xmlns:a16="http://schemas.microsoft.com/office/drawing/2014/main" id="{FA74175F-51E7-A4E2-56AB-60A853D4070E}"/>
                </a:ext>
              </a:extLst>
            </p:cNvPr>
            <p:cNvSpPr/>
            <p:nvPr/>
          </p:nvSpPr>
          <p:spPr>
            <a:xfrm rot="5400000">
              <a:off x="1362519" y="289300"/>
              <a:ext cx="1300163" cy="1862105"/>
            </a:xfrm>
            <a:prstGeom prst="homePlate">
              <a:avLst/>
            </a:prstGeom>
            <a:solidFill>
              <a:srgbClr val="FFF8DD"/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868B8BB-E858-5465-3DCF-07F80BCDE57B}"/>
              </a:ext>
            </a:extLst>
          </p:cNvPr>
          <p:cNvGrpSpPr/>
          <p:nvPr/>
        </p:nvGrpSpPr>
        <p:grpSpPr>
          <a:xfrm>
            <a:off x="1826480" y="1138158"/>
            <a:ext cx="1612491" cy="1435511"/>
            <a:chOff x="1081548" y="570270"/>
            <a:chExt cx="1862106" cy="2084439"/>
          </a:xfrm>
          <a:solidFill>
            <a:srgbClr val="702504"/>
          </a:solidFill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069AFDE-0C0B-B871-E962-2554AD8EA964}"/>
                </a:ext>
              </a:extLst>
            </p:cNvPr>
            <p:cNvSpPr/>
            <p:nvPr/>
          </p:nvSpPr>
          <p:spPr>
            <a:xfrm>
              <a:off x="1081548" y="570270"/>
              <a:ext cx="1862106" cy="208443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8" name="Arrow: Pentagon 97">
              <a:extLst>
                <a:ext uri="{FF2B5EF4-FFF2-40B4-BE49-F238E27FC236}">
                  <a16:creationId xmlns:a16="http://schemas.microsoft.com/office/drawing/2014/main" id="{6BA2CF4E-FB80-BF92-A57B-4AE427142BBE}"/>
                </a:ext>
              </a:extLst>
            </p:cNvPr>
            <p:cNvSpPr/>
            <p:nvPr/>
          </p:nvSpPr>
          <p:spPr>
            <a:xfrm rot="5400000">
              <a:off x="1362519" y="289300"/>
              <a:ext cx="1300163" cy="1862105"/>
            </a:xfrm>
            <a:prstGeom prst="homePlate">
              <a:avLst/>
            </a:prstGeom>
            <a:solidFill>
              <a:srgbClr val="FFF8DD"/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2762497-B27F-6584-FE59-6BB6AF06C0F6}"/>
              </a:ext>
            </a:extLst>
          </p:cNvPr>
          <p:cNvGrpSpPr/>
          <p:nvPr/>
        </p:nvGrpSpPr>
        <p:grpSpPr>
          <a:xfrm>
            <a:off x="5127727" y="377707"/>
            <a:ext cx="1612491" cy="1435511"/>
            <a:chOff x="1081548" y="570270"/>
            <a:chExt cx="1862106" cy="2084439"/>
          </a:xfrm>
          <a:solidFill>
            <a:srgbClr val="702504"/>
          </a:solidFill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18DF8A2-2FFA-20FD-0C83-A9B6A045ED10}"/>
                </a:ext>
              </a:extLst>
            </p:cNvPr>
            <p:cNvSpPr/>
            <p:nvPr/>
          </p:nvSpPr>
          <p:spPr>
            <a:xfrm>
              <a:off x="1081548" y="570270"/>
              <a:ext cx="1862106" cy="208443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1" name="Arrow: Pentagon 100">
              <a:extLst>
                <a:ext uri="{FF2B5EF4-FFF2-40B4-BE49-F238E27FC236}">
                  <a16:creationId xmlns:a16="http://schemas.microsoft.com/office/drawing/2014/main" id="{930D65D7-553B-05D5-114F-F3ACB249D585}"/>
                </a:ext>
              </a:extLst>
            </p:cNvPr>
            <p:cNvSpPr/>
            <p:nvPr/>
          </p:nvSpPr>
          <p:spPr>
            <a:xfrm rot="5400000">
              <a:off x="1362519" y="289300"/>
              <a:ext cx="1300163" cy="1862105"/>
            </a:xfrm>
            <a:prstGeom prst="homePlate">
              <a:avLst/>
            </a:prstGeom>
            <a:solidFill>
              <a:srgbClr val="FFF8DD"/>
            </a:solidFill>
            <a:ln>
              <a:solidFill>
                <a:srgbClr val="7025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BF840B92-1E59-0740-1DFA-6DEBA20307A1}"/>
              </a:ext>
            </a:extLst>
          </p:cNvPr>
          <p:cNvSpPr txBox="1"/>
          <p:nvPr/>
        </p:nvSpPr>
        <p:spPr>
          <a:xfrm>
            <a:off x="5027552" y="1212405"/>
            <a:ext cx="1812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Email Campaign Setup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8683917-758A-80D7-3087-D342CF19AC84}"/>
              </a:ext>
            </a:extLst>
          </p:cNvPr>
          <p:cNvSpPr txBox="1"/>
          <p:nvPr/>
        </p:nvSpPr>
        <p:spPr>
          <a:xfrm>
            <a:off x="8837668" y="1873255"/>
            <a:ext cx="16124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Email Template Selection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AD2A772-5E6E-3EDF-2826-8331C22FC5BB}"/>
              </a:ext>
            </a:extLst>
          </p:cNvPr>
          <p:cNvSpPr txBox="1"/>
          <p:nvPr/>
        </p:nvSpPr>
        <p:spPr>
          <a:xfrm>
            <a:off x="8823111" y="3949741"/>
            <a:ext cx="16124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Email Designing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E85B2AE-FC59-2E93-1017-587B6BE9884C}"/>
              </a:ext>
            </a:extLst>
          </p:cNvPr>
          <p:cNvSpPr txBox="1"/>
          <p:nvPr/>
        </p:nvSpPr>
        <p:spPr>
          <a:xfrm>
            <a:off x="8428973" y="5974331"/>
            <a:ext cx="2337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Sand End </a:t>
            </a:r>
          </a:p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Performance</a:t>
            </a:r>
          </a:p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 Tracking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5120090-8157-2ACA-9C61-17600007901E}"/>
              </a:ext>
            </a:extLst>
          </p:cNvPr>
          <p:cNvSpPr txBox="1"/>
          <p:nvPr/>
        </p:nvSpPr>
        <p:spPr>
          <a:xfrm>
            <a:off x="1726306" y="5934355"/>
            <a:ext cx="16124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Contact List Creation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C5261A5-268E-43BE-C9CD-62F5B6911DDE}"/>
              </a:ext>
            </a:extLst>
          </p:cNvPr>
          <p:cNvSpPr txBox="1"/>
          <p:nvPr/>
        </p:nvSpPr>
        <p:spPr>
          <a:xfrm>
            <a:off x="1726306" y="3964082"/>
            <a:ext cx="16124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Import </a:t>
            </a:r>
          </a:p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Contact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3B8F91-FB66-53D4-6D78-6642B23A761C}"/>
              </a:ext>
            </a:extLst>
          </p:cNvPr>
          <p:cNvSpPr txBox="1"/>
          <p:nvPr/>
        </p:nvSpPr>
        <p:spPr>
          <a:xfrm>
            <a:off x="1726306" y="1935934"/>
            <a:ext cx="16124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FFF8DD"/>
                </a:solidFill>
                <a:latin typeface="Bell MT" panose="02020503060305020303" pitchFamily="18" charset="0"/>
              </a:rPr>
              <a:t>Organise Contacts</a:t>
            </a:r>
          </a:p>
        </p:txBody>
      </p:sp>
      <p:pic>
        <p:nvPicPr>
          <p:cNvPr id="118" name="Picture 117" descr="Email - Free marketing icons">
            <a:extLst>
              <a:ext uri="{FF2B5EF4-FFF2-40B4-BE49-F238E27FC236}">
                <a16:creationId xmlns:a16="http://schemas.microsoft.com/office/drawing/2014/main" id="{B558D71C-F445-6715-52B1-D81DD131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972" y="479021"/>
            <a:ext cx="540000" cy="540000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9FC1CEB0-4B9A-FBE4-0409-CC712C7DD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109" y="3213582"/>
            <a:ext cx="540000" cy="540000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8A75807A-5419-7D13-9FF5-1C7841342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551" y="5282708"/>
            <a:ext cx="540000" cy="540000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957AC84E-FB32-EB41-0334-9F6E3C152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551" y="1152892"/>
            <a:ext cx="540000" cy="540000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A352CB70-3CFB-DB9D-5B60-23E0EA4FCF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356" y="1177887"/>
            <a:ext cx="540000" cy="540000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A26AAADC-BF6F-8E83-BCEC-3807D1C86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9356" y="5232937"/>
            <a:ext cx="540000" cy="540000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C614A37A-92EB-2A3A-C2AC-05CC4BB74F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4891" y="3271596"/>
            <a:ext cx="540000" cy="5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1C3893-C462-937A-63A2-6441807C74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126" y="2117501"/>
            <a:ext cx="4297748" cy="420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5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84B96-2E7A-DB19-99B0-B7666586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68504C-FA7D-6C6A-A764-0F7CE62F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9CF102-0D46-4058-7817-AC7399596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482BC4-C889-9580-E33F-26F814F2CB91}"/>
              </a:ext>
            </a:extLst>
          </p:cNvPr>
          <p:cNvSpPr txBox="1"/>
          <p:nvPr/>
        </p:nvSpPr>
        <p:spPr>
          <a:xfrm>
            <a:off x="2706178" y="340378"/>
            <a:ext cx="6634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n>
                  <a:solidFill>
                    <a:schemeClr val="bg1"/>
                  </a:solidFill>
                </a:ln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Mailchimp Account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548DC-B4B8-723C-7CA4-E7A66834B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488" y="1627464"/>
            <a:ext cx="9671023" cy="458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64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2C525-73D4-C4D0-A551-5CB7710F2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E23903-A732-6C2D-B145-67331F10D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C477F7-B2E1-822E-5CBC-AFC63F52F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3F2E3A-BEAA-154D-CECA-F38F849378C4}"/>
              </a:ext>
            </a:extLst>
          </p:cNvPr>
          <p:cNvSpPr txBox="1"/>
          <p:nvPr/>
        </p:nvSpPr>
        <p:spPr>
          <a:xfrm>
            <a:off x="1597306" y="474147"/>
            <a:ext cx="8657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Email Design Method Selection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1E5CA9-D17A-9AC1-0ECB-9B133537A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617" y="1674415"/>
            <a:ext cx="10014765" cy="450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639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64490-C176-6C0E-28E1-56853FA35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B9FAD7-B447-58C6-0A38-20D4A88BA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EC33AD-902D-87E6-E6BC-D0A882DD3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73C546-7F40-97D8-8E48-C26F77A20415}"/>
              </a:ext>
            </a:extLst>
          </p:cNvPr>
          <p:cNvSpPr txBox="1"/>
          <p:nvPr/>
        </p:nvSpPr>
        <p:spPr>
          <a:xfrm>
            <a:off x="2766780" y="493611"/>
            <a:ext cx="6658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Email Template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2DD7B-DACE-A089-0D58-B21A7F074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876" y="1606050"/>
            <a:ext cx="9872246" cy="475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02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DFF8-F7BF-B1AB-20A1-A23915C7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137F5E-AA70-04EC-647C-B53718692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30E1D2-E7C7-28CC-4D0B-0DE5DF380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97F252-B9A3-5F6E-A654-38A9ACCA250C}"/>
              </a:ext>
            </a:extLst>
          </p:cNvPr>
          <p:cNvSpPr txBox="1"/>
          <p:nvPr/>
        </p:nvSpPr>
        <p:spPr>
          <a:xfrm>
            <a:off x="1944547" y="331249"/>
            <a:ext cx="877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Email Design and Customization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5ECCEF-9859-4920-C938-EB1FBCD0BF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15" y="1927853"/>
            <a:ext cx="2810311" cy="43559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FD9BC4-5FE3-5CFB-AD4D-5111911E31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427" y="1927853"/>
            <a:ext cx="3279145" cy="43559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8F49B6-C21D-1B2B-30E5-FAD4A5FA8C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370" y="1927853"/>
            <a:ext cx="3279145" cy="435598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E82B61-3A72-99E6-6B28-6D7071DB5AC0}"/>
              </a:ext>
            </a:extLst>
          </p:cNvPr>
          <p:cNvCxnSpPr/>
          <p:nvPr/>
        </p:nvCxnSpPr>
        <p:spPr>
          <a:xfrm>
            <a:off x="3942826" y="1927853"/>
            <a:ext cx="0" cy="4036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4AA4DE-92BC-7FB5-8496-FCB4EEC7E7F9}"/>
              </a:ext>
            </a:extLst>
          </p:cNvPr>
          <p:cNvCxnSpPr/>
          <p:nvPr/>
        </p:nvCxnSpPr>
        <p:spPr>
          <a:xfrm>
            <a:off x="8029662" y="1927852"/>
            <a:ext cx="0" cy="4036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545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48B4C-3109-9ED0-578E-0DCAFCC3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9B1727-D3B2-6E0E-868D-73630DF31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573AB2-2622-9EEE-4EBE-548A6FC56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F3319D-0D47-5A89-18D3-0A2E9C7252E0}"/>
              </a:ext>
            </a:extLst>
          </p:cNvPr>
          <p:cNvSpPr txBox="1"/>
          <p:nvPr/>
        </p:nvSpPr>
        <p:spPr>
          <a:xfrm>
            <a:off x="1701478" y="339638"/>
            <a:ext cx="8599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Contact Import Method Selection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0FE79-6A9C-A3FC-5EF2-F4481FD07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13" y="1532079"/>
            <a:ext cx="10640373" cy="399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77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40A28-E66E-92B0-407F-0B1524F0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8FD081-0946-D60C-2E43-2A91C5CF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5013DE-5DCE-57DA-5B34-363AFC299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F32F8C-4A06-04B9-B49B-294BD8C3CC4C}"/>
              </a:ext>
            </a:extLst>
          </p:cNvPr>
          <p:cNvSpPr txBox="1"/>
          <p:nvPr/>
        </p:nvSpPr>
        <p:spPr>
          <a:xfrm>
            <a:off x="2095018" y="329313"/>
            <a:ext cx="7977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Copy and Paste Your Contact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2D53A0-D5F4-D76B-28FA-8F6D79C403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34" y="1627371"/>
            <a:ext cx="9992810" cy="486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47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1891D-DFFC-AE7C-0C7B-53DC2CC2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C99CFF0-865F-CF33-AC57-5CC923DA1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A4BD6F-B612-4DC8-DCFE-F81646717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795484-C345-27CA-7B85-4FD6422D9A16}"/>
              </a:ext>
            </a:extLst>
          </p:cNvPr>
          <p:cNvSpPr txBox="1"/>
          <p:nvPr/>
        </p:nvSpPr>
        <p:spPr>
          <a:xfrm>
            <a:off x="2287929" y="329313"/>
            <a:ext cx="761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Contact Import Successfully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7EB579-443C-9F4B-F5C9-491DF877C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026" y="1488608"/>
            <a:ext cx="9621945" cy="46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6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1F87A-28D9-3AD0-7752-DB58F453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3EFBBC-4DAD-F8A9-7098-F276DD5A7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1F9038-3E0C-357E-D7C5-182294D32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A7A810-C9FE-DEDA-6EB9-05570C183CF8}"/>
              </a:ext>
            </a:extLst>
          </p:cNvPr>
          <p:cNvSpPr txBox="1"/>
          <p:nvPr/>
        </p:nvSpPr>
        <p:spPr>
          <a:xfrm>
            <a:off x="2287929" y="329313"/>
            <a:ext cx="761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Organize Your Contacts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A27B0-A2BA-110F-EA79-E52DCBAF5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637" y="1380777"/>
            <a:ext cx="9516724" cy="459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41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04CD-C0B3-A546-5C3E-DD777020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B8395A-5575-1EA4-6EE4-31A9A0216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94014-C243-6AA5-90D6-1B104B763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28063"/>
            <a:ext cx="934064" cy="934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430A40-EB82-26B1-9926-27DACB2496D6}"/>
              </a:ext>
            </a:extLst>
          </p:cNvPr>
          <p:cNvSpPr txBox="1"/>
          <p:nvPr/>
        </p:nvSpPr>
        <p:spPr>
          <a:xfrm>
            <a:off x="3356658" y="331249"/>
            <a:ext cx="4967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Import Completion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C2332-99DF-FF46-1FCA-8AAFF5B5E3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78" y="1497025"/>
            <a:ext cx="9872444" cy="456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08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062B-E5AD-23A3-4ED0-909C6CAB7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8003E4-F52C-8792-E31C-F9DA21555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582DF8-1B33-C993-3515-37DEF9A44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17E632-9C02-1824-9343-AC34A6297629}"/>
              </a:ext>
            </a:extLst>
          </p:cNvPr>
          <p:cNvSpPr txBox="1"/>
          <p:nvPr/>
        </p:nvSpPr>
        <p:spPr>
          <a:xfrm>
            <a:off x="3402444" y="457403"/>
            <a:ext cx="5387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Campaign Preview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7519D4-3395-930F-87E7-8DD59CDDD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297" y="1339125"/>
            <a:ext cx="9765406" cy="45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5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3393-2C1B-CA5E-DA8B-F3F579BA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09BFCD-D716-3B92-88E4-508168982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13AA42-98D6-958D-FEFA-60F279E3B7FB}"/>
              </a:ext>
            </a:extLst>
          </p:cNvPr>
          <p:cNvSpPr txBox="1"/>
          <p:nvPr/>
        </p:nvSpPr>
        <p:spPr>
          <a:xfrm>
            <a:off x="1782501" y="388252"/>
            <a:ext cx="8634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Campaign Successfully Launched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305C47-DDA4-F7E4-A0BA-C9D436967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28063"/>
            <a:ext cx="934064" cy="934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7BAD7C-6FE0-16A2-CED0-6FA8A393B2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996" y="1375795"/>
            <a:ext cx="8852008" cy="478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58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20F9B-0767-6991-D704-07610657B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22CE13-7122-1CCA-420B-D0AEE1BFE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E952A8-218E-AE7B-FDCE-7503EAB605BE}"/>
              </a:ext>
            </a:extLst>
          </p:cNvPr>
          <p:cNvSpPr txBox="1"/>
          <p:nvPr/>
        </p:nvSpPr>
        <p:spPr>
          <a:xfrm>
            <a:off x="4449125" y="388252"/>
            <a:ext cx="2981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Test Email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8FA82-CC32-A0BD-F1D7-8E97471D2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19674"/>
            <a:ext cx="934064" cy="934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61D730-7818-3081-DEB1-35856EEB1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354" y="1710018"/>
            <a:ext cx="3970182" cy="4696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158E1F-29A9-509F-E486-A3D095AFC5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465" y="1710018"/>
            <a:ext cx="3170430" cy="469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60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0C06-4156-311B-9CA8-97E03E496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F77C46-C42F-30E2-C332-C86944CFC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6D7090-BF3F-781B-CA9D-1FB10FBABF18}"/>
              </a:ext>
            </a:extLst>
          </p:cNvPr>
          <p:cNvSpPr txBox="1"/>
          <p:nvPr/>
        </p:nvSpPr>
        <p:spPr>
          <a:xfrm>
            <a:off x="4449125" y="388252"/>
            <a:ext cx="2981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Test Email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B84078-D808-00A9-C830-396DD9FA3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19674"/>
            <a:ext cx="934064" cy="934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B83F0B-B580-5793-4194-37BF92C64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843" y="1593908"/>
            <a:ext cx="3279145" cy="43559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7E4E00-9CCB-1907-C9CE-5314080D45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07" y="1593908"/>
            <a:ext cx="3279145" cy="435598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697159-FB35-9872-7EA1-5FC4107812C5}"/>
              </a:ext>
            </a:extLst>
          </p:cNvPr>
          <p:cNvCxnSpPr/>
          <p:nvPr/>
        </p:nvCxnSpPr>
        <p:spPr>
          <a:xfrm>
            <a:off x="5738070" y="1593908"/>
            <a:ext cx="0" cy="4051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228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2DC0-E352-8794-44AB-E2560992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223F14-E634-0270-96AD-1BE5556E7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21" y="0"/>
            <a:ext cx="1224492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FAFA62-CD2D-9F55-15A1-100430A35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8" b="19222"/>
          <a:stretch>
            <a:fillRect/>
          </a:stretch>
        </p:blipFill>
        <p:spPr>
          <a:xfrm>
            <a:off x="2424419" y="1880240"/>
            <a:ext cx="7971576" cy="285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08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428</Words>
  <Application>Microsoft Office PowerPoint</Application>
  <PresentationFormat>Widescreen</PresentationFormat>
  <Paragraphs>87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Bell MT</vt:lpstr>
      <vt:lpstr>Bodoni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niharika00singh@outlook.com</dc:creator>
  <cp:lastModifiedBy>niharika00singh@outlook.com</cp:lastModifiedBy>
  <cp:revision>19</cp:revision>
  <dcterms:created xsi:type="dcterms:W3CDTF">2026-09-20T13:55:58Z</dcterms:created>
  <dcterms:modified xsi:type="dcterms:W3CDTF">2026-09-30T08:06:32Z</dcterms:modified>
</cp:coreProperties>
</file>